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国债收益率方向预测</a:t>
            </a:r>
          </a:p>
          <a:p>
            <a:r>
              <a:t>口径与来源：数据截至：现有滚动回测产物；汇报日期：2026年10月14日</a:t>
            </a:r>
          </a:p>
          <a:p>
            <a:r>
              <a:t>本报告不是交易收益回测。当前基线是研究对照，不是已验证可部署的生产模型。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结论先行：模型迁移已完成，稳定增益尚未确立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特征体系：从缓存工程特征转向可追溯因果特征</a:t>
            </a:r>
          </a:p>
          <a:p>
            <a:r>
              <a:t>口径与来源：来源：01_BiGRU训练_二分类_10天.py；05_基础特征对照训练.py；09_方向优化实验.py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XGB到神经网络：迁移不是自动提升</a:t>
            </a:r>
          </a:p>
          <a:p>
            <a:r>
              <a:t>口径与来源：来源：model_new/data/xgb_metrics_bin.txt、xgb_metrics_10d.txt；RAW_B_*_S2_E40_metrics.json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神经网络架构：从复杂堆叠到小样本CompactGRU</a:t>
            </a:r>
          </a:p>
          <a:p>
            <a:r>
              <a:t>口径与来源：来源：01_BiGRU训练_二分类_10天.py；05_基础特征对照训练.py:CompactGRU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训练与预测流程：逐折只使用已成熟标签</a:t>
            </a:r>
          </a:p>
          <a:p>
            <a:r>
              <a:t>口径与来源：来源：09_方向优化实验.py:run_task；01_BiGRU训练_二分类_10天.py:train_one_fold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历史优化：预测周期比单纯增大模型更重要</a:t>
            </a:r>
          </a:p>
          <a:p>
            <a:r>
              <a:t>口径与来源：来源：LS2、SEQ60_ACC3、H10_SEQ40、H10_S40_FINAL5指标与预测产物；历史迭代报告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当前优化结果：标签与趋势有局部改善，泛化仍不足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训练侧与市场特征优化：单年最优不等于可采用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政策事件消融：排序改善，准确率收益没有稳定复现</a:t>
            </a:r>
          </a:p>
          <a:p>
            <a:r>
              <a:t>口径与来源：来源：02_文本特征构建.py；OPT9_event_*；文本标签_政策事件日历.csv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结果分布：准确率主要来自非下行日，漏判风险集中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哪些时期预测不好：按月看存在成片失误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2025年10月复盘：温和下行被系统性漏判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不确定性与证据边界：不靠单年或单seed拍板</a:t>
            </a:r>
          </a:p>
          <a:p>
            <a:r>
              <a:t>口径与来源：来源：model_nn/out/OPT9_validation.json；预测明细按原始利率重新计算未来10日涨跌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后续计划：先建立证据，再讨论部署</a:t>
            </a:r>
          </a:p>
          <a:p>
            <a:r>
              <a:t>口径与来源：复现入口：09_方向优化实验.py；结果：OPT9_对比汇总.csv、OPT9_event_decision.json；本PPT由10_汇报PPT生成.py生成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国债收益率方向预测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从XGBoost到神经网络：特征、训练、优化与预测失误复盘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数据截至：现有滚动回测产物；汇报日期：2026年10月14日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0881360" cy="7315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900" b="1">
                <a:solidFill>
                  <a:srgbClr val="10243A"/>
                </a:solidFill>
                <a:latin typeface="Microsoft YaHei"/>
                <a:ea typeface="Microsoft YaHei"/>
              </a:rPr>
              <a:t>模型演进与优化汇报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926080"/>
            <a:ext cx="10607040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64758B"/>
                </a:solidFill>
                <a:latin typeface="Microsoft YaHei"/>
                <a:ea typeface="Microsoft YaHei"/>
              </a:rPr>
              <a:t>历史探索发现潜力，因果复核界定边界，逐日诊断决定下一步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895344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3895344"/>
            <a:ext cx="50292" cy="20116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078224"/>
            <a:ext cx="31546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58B"/>
                </a:solidFill>
                <a:latin typeface="Microsoft YaHei"/>
                <a:ea typeface="Microsoft YaHei"/>
              </a:rPr>
              <a:t>评估框架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81144"/>
            <a:ext cx="3154680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087F8C"/>
                </a:solidFill>
                <a:latin typeface="Microsoft YaHei"/>
                <a:ea typeface="Microsoft YaHei"/>
              </a:rPr>
              <a:t>28折滚动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285231"/>
            <a:ext cx="3154680" cy="5486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1,509个开发期预测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243个2025年预测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3895344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3895344"/>
            <a:ext cx="50292" cy="20116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4078224"/>
            <a:ext cx="31546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58B"/>
                </a:solidFill>
                <a:latin typeface="Microsoft YaHei"/>
                <a:ea typeface="Microsoft YaHei"/>
              </a:rPr>
              <a:t>当前E基线 · 2025原始方向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4581144"/>
            <a:ext cx="3154680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087F8C"/>
                </a:solidFill>
                <a:latin typeface="Microsoft YaHei"/>
                <a:ea typeface="Microsoft YaHei"/>
              </a:rPr>
              <a:t>62.96%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5285231"/>
            <a:ext cx="3154680" cy="5486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多数类60.08%；净增益2.88个百分点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95344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895344"/>
            <a:ext cx="50292" cy="2011680"/>
          </a:xfrm>
          <a:prstGeom prst="rect">
            <a:avLst/>
          </a:prstGeom>
          <a:solidFill>
            <a:srgbClr val="C9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078224"/>
            <a:ext cx="31546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58B"/>
                </a:solidFill>
                <a:latin typeface="Microsoft YaHei"/>
                <a:ea typeface="Microsoft YaHei"/>
              </a:rPr>
              <a:t>典型风险 · 2025年10月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81144"/>
            <a:ext cx="3154680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C9474D"/>
                </a:solidFill>
                <a:latin typeface="Microsoft YaHei"/>
                <a:ea typeface="Microsoft YaHei"/>
              </a:rPr>
              <a:t>15 / 17日误判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285231"/>
            <a:ext cx="3154680" cy="5486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温和下行被漏判；事件特征未修复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结论先行：模型迁移已完成，稳定增益尚未确立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研究对照基线保留E特征＋down_ex2；不把2025单年最优直接作为部署依据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3538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50292" cy="23317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172968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58B"/>
                </a:solidFill>
                <a:latin typeface="Microsoft YaHei"/>
                <a:ea typeface="Microsoft YaHei"/>
              </a:rPr>
              <a:t>历史探索的主要突破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3172968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087F8C"/>
                </a:solidFill>
                <a:latin typeface="Microsoft YaHei"/>
                <a:ea typeface="Microsoft YaHei"/>
              </a:rPr>
              <a:t>H5 → H10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3172968" cy="868679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旧版NN全局AUC提升至0.6705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不同预测周期，不作纯架构归因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920240"/>
            <a:ext cx="3538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920240"/>
            <a:ext cx="50292" cy="2331720"/>
          </a:xfrm>
          <a:prstGeom prst="rect">
            <a:avLst/>
          </a:prstGeom>
          <a:solidFill>
            <a:srgbClr val="C9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103120"/>
            <a:ext cx="3172968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58B"/>
                </a:solidFill>
                <a:latin typeface="Microsoft YaHei"/>
                <a:ea typeface="Microsoft YaHei"/>
              </a:rPr>
              <a:t>当前因果复核边界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606040"/>
            <a:ext cx="3172968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C9474D"/>
                </a:solidFill>
                <a:latin typeface="Microsoft YaHei"/>
                <a:ea typeface="Microsoft YaHei"/>
              </a:rPr>
              <a:t>54.21%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0128"/>
            <a:ext cx="3172968" cy="868679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开发期原始方向54.21%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低于同口径多数类59.05%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920240"/>
            <a:ext cx="353872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920240"/>
            <a:ext cx="50292" cy="2331720"/>
          </a:xfrm>
          <a:prstGeom prst="rect">
            <a:avLst/>
          </a:prstGeom>
          <a:solidFill>
            <a:srgbClr val="C3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103120"/>
            <a:ext cx="3172968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58B"/>
                </a:solidFill>
                <a:latin typeface="Microsoft YaHei"/>
                <a:ea typeface="Microsoft YaHei"/>
              </a:rPr>
              <a:t>新增事件方向标签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606040"/>
            <a:ext cx="3172968" cy="5943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C38B22"/>
                </a:solidFill>
                <a:latin typeface="Microsoft YaHei"/>
                <a:ea typeface="Microsoft YaHei"/>
              </a:rPr>
              <a:t>2025 +1.23pt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310128"/>
            <a:ext cx="3172968" cy="868679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64.20%，但开发期下降3.05pt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未通过预先固定的采用门槛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99432"/>
            <a:ext cx="11000232" cy="141732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2468880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下一阶段的目标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754880"/>
            <a:ext cx="8183879" cy="10515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</a:rPr>
              <a:t>从“某年准确率更高”转向“成熟标签、固定协议、稳定超基线”，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</a:rPr>
              <a:t>先校准概率与完善时间可得性，再做同周期融合及交易成本评估。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特征体系：从缓存工程特征转向可追溯因果特征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收益率、宏观、资金、政策及机构行为按可用时点对齐；不把新闻描述直接当未来标签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来源：01_BiGRU训练_二分类_10天.py；05_基础特征对照训练.py；09_方向优化实验.py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557784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84248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984248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输入与构造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1984248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特征规模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984248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状态 / 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59736"/>
            <a:ext cx="1101852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42032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历史XGB / 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2542032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STL、遗传规划、滚动工程特征；NN取XGB Top-30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542032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280 →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542032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全期筛选及缓存需复核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017520"/>
            <a:ext cx="11018520" cy="557784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099815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D：因果基础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099815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日/周/月/季发布对齐＋收益率变化＋资金利差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099815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100列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099815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发布日＋1日；历史始于2010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575304"/>
            <a:ext cx="11018520" cy="557784"/>
          </a:xfrm>
          <a:prstGeom prst="rect">
            <a:avLst/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657600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6374A"/>
                </a:solidFill>
                <a:latin typeface="Microsoft YaHei"/>
                <a:ea typeface="Microsoft YaHei"/>
              </a:rPr>
              <a:t>E：趋势扩展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657600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6374A"/>
                </a:solidFill>
                <a:latin typeface="Microsoft YaHei"/>
                <a:ea typeface="Microsoft YaHei"/>
              </a:rPr>
              <a:t>60/120日动量、水平z分数、回撤、长周期波动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657600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6374A"/>
                </a:solidFill>
                <a:latin typeface="Microsoft YaHei"/>
                <a:ea typeface="Microsoft YaHei"/>
              </a:rPr>
              <a:t>120列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3657600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26374A"/>
                </a:solidFill>
                <a:latin typeface="Microsoft YaHei"/>
                <a:ea typeface="Microsoft YaHei"/>
              </a:rPr>
              <a:t>当前研究对照基线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133087"/>
            <a:ext cx="11018520" cy="557784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215383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F：市场行为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2848" y="4215383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政策锚、FR007、机构净买入、供给和成交量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4215383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144列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4215383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验证未通过，非默认输入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690872"/>
            <a:ext cx="1101852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773168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E＋客观事件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2848" y="4773168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七类事件、强度、20日密度、距事件天数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4773168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130列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79408" y="4773168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不使用人工direction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248656"/>
            <a:ext cx="11018520" cy="557784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330952"/>
            <a:ext cx="13441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E＋方向事件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2848" y="5330952"/>
            <a:ext cx="53218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再加利多/利空衰减和及净情绪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5330952"/>
            <a:ext cx="111556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133列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8" y="5330952"/>
            <a:ext cx="2578608" cy="4663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回溯标注存在事后解释风险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897880"/>
            <a:ext cx="10881360" cy="47548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58B"/>
                </a:solidFill>
                <a:latin typeface="Microsoft YaHei"/>
                <a:ea typeface="Microsoft YaHei"/>
              </a:rPr>
              <a:t>数值特征：过去252日中位数/IQR归一化，折内填补/筛列/标准化；附加缺失标记。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58B"/>
                </a:solidFill>
                <a:latin typeface="Microsoft YaHei"/>
                <a:ea typeface="Microsoft YaHei"/>
              </a:rPr>
              <a:t>事件特征：按完整交易日历构建，事件日之后首个交易日起生效；回溯精选日历≠实时完备新闻库。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XGB到神经网络：迁移不是自动提升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先分清预测周期和数据口径，再看同源对照；不能用H5与H10差异证明架构优越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来源：model_new/data/xgb_metrics_bin.txt、xgb_metrics_10d.txt；RAW_B_*_S2_E40_metrics.json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04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1018520" cy="521207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84248"/>
            <a:ext cx="3081527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历史探索模型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0208" y="1984248"/>
            <a:ext cx="7498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周期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984248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全局Acc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984248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全局AUC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1984248"/>
            <a:ext cx="39502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样本 / 比较边界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23160"/>
            <a:ext cx="110185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05456"/>
            <a:ext cx="3081527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XGB缓存基线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505456"/>
            <a:ext cx="7498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505456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56.35%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505456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0.5822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2505456"/>
            <a:ext cx="39502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1,764；280特征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944368"/>
            <a:ext cx="11018520" cy="521207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026663"/>
            <a:ext cx="3081527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XGB缓存H10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3026663"/>
            <a:ext cx="7498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10日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026663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57.74%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026663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0.6344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3026663"/>
            <a:ext cx="39502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1,827；29折、116特征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465576"/>
            <a:ext cx="110185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547872"/>
            <a:ext cx="3081527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旧版NN FINAL5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0208" y="3547872"/>
            <a:ext cx="7498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10日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3547872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59.13%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3547872"/>
            <a:ext cx="12070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0.6705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7" y="3547872"/>
            <a:ext cx="3950208" cy="4297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1,764；28折、Top-30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24528"/>
            <a:ext cx="6675120" cy="1847088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543800" y="4178808"/>
            <a:ext cx="3977639" cy="18836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4968" y="4288536"/>
            <a:ext cx="3575303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87F8C"/>
                </a:solidFill>
                <a:latin typeface="Microsoft YaHei"/>
                <a:ea typeface="Microsoft YaHei"/>
              </a:rPr>
              <a:t>同源H10对照的含义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54112" y="4818888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6992" y="4709160"/>
            <a:ext cx="3364991" cy="608075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6374A"/>
                </a:solidFill>
                <a:latin typeface="Microsoft YaHei"/>
                <a:ea typeface="Microsoft YaHei"/>
              </a:rPr>
              <a:t>XGB与NN使用同源B特征、相同测试日历；不是同超参数对照。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54112" y="5449824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6992" y="5340096"/>
            <a:ext cx="3364991" cy="608075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6374A"/>
                </a:solidFill>
                <a:latin typeface="Microsoft YaHei"/>
                <a:ea typeface="Microsoft YaHei"/>
              </a:rPr>
              <a:t>全局Acc：XGB54.20%，NN52.21%；不能宣称全面替代。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神经网络架构：从复杂堆叠到小样本CompactGRU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历史版负责探索序列模式；当前版通过降容量与固定协议建立更清晰的对照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来源：01_BiGRU训练_二分类_10天.py；05_基础特征对照训练.py:CompactGRU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83664"/>
            <a:ext cx="5321808" cy="41696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57400"/>
            <a:ext cx="4992624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38B22"/>
                </a:solidFill>
                <a:latin typeface="Microsoft YaHei"/>
                <a:ea typeface="Microsoft YaHei"/>
              </a:rPr>
              <a:t>历史版：BiGRU＋Inception＋Attention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3405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9349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38B22"/>
                </a:solidFill>
                <a:latin typeface="Microsoft YaHei"/>
                <a:ea typeface="Microsoft YaHei"/>
              </a:rPr>
              <a:t>40日 × Top-30输入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2841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38785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双向GRU：hidden=64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2277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98221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四分支卷积：k=3/5/7/9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1713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57657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Self-Attention＋全局池化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11149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17093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二分类logits；5-seed概率平均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83664"/>
            <a:ext cx="5321808" cy="41696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057400"/>
            <a:ext cx="4992624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</a:rPr>
              <a:t>当前版：CompactGRU（09实验）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73405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279349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87F8C"/>
                </a:solidFill>
                <a:latin typeface="Microsoft YaHei"/>
                <a:ea typeface="Microsoft YaHei"/>
              </a:rPr>
              <a:t>20日 × 120列E特征＋缺失标记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32841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38785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Linear＋LayerNorm＋GELU投影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92277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398221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单层双向GRU：hidden=32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51713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457657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均值池化＋末端状态拼接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5111496"/>
            <a:ext cx="4773168" cy="429768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5170932"/>
            <a:ext cx="4526280" cy="3383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Dropout＋二分类；3-seed概率平均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08192"/>
            <a:ext cx="1078992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474D"/>
                </a:solidFill>
                <a:latin typeface="Microsoft YaHei"/>
                <a:ea typeface="Microsoft YaHei"/>
              </a:rPr>
              <a:t>当前实验没有Inception或Attention模块；不能把旧架构图当作当前训练结构。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训练与预测流程：逐折只使用已成熟标签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预测日t输出未来10个交易日方向；标签到t＋10才落地；训练、验证、测试严格按时间切分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来源：09_方向优化实验.py:run_task；01_BiGRU训练_二分类_10天.py:train_one_fold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29968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58568"/>
            <a:ext cx="17830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</a:rPr>
              <a:t>构建样本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52344"/>
            <a:ext cx="1783080" cy="4389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58B"/>
                </a:solidFill>
                <a:latin typeface="Microsoft YaHei"/>
                <a:ea typeface="Microsoft YaHei"/>
              </a:rPr>
              <a:t>过去20日序列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487168"/>
            <a:ext cx="256032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6475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029968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258568"/>
            <a:ext cx="17830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</a:rPr>
              <a:t>成熟标签过滤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52344"/>
            <a:ext cx="1783080" cy="4389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58B"/>
                </a:solidFill>
                <a:latin typeface="Microsoft YaHei"/>
                <a:ea typeface="Microsoft YaHei"/>
              </a:rPr>
              <a:t>成熟日早于测试首日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2487168"/>
            <a:ext cx="256032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6475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029968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258568"/>
            <a:ext cx="17830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</a:rPr>
              <a:t>训练 / 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52344"/>
            <a:ext cx="1783080" cy="4389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58B"/>
                </a:solidFill>
                <a:latin typeface="Microsoft YaHei"/>
                <a:ea typeface="Microsoft YaHei"/>
              </a:rPr>
              <a:t>时间顺序＋20日purge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487168"/>
            <a:ext cx="256032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6475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029968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258568"/>
            <a:ext cx="17830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3-seed训练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52344"/>
            <a:ext cx="1783080" cy="4389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验证AUC早停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2487168"/>
            <a:ext cx="256032" cy="41148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64758B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2029968"/>
            <a:ext cx="20116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258568"/>
            <a:ext cx="1783080" cy="36576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87F8C"/>
                </a:solidFill>
                <a:latin typeface="Microsoft YaHei"/>
                <a:ea typeface="Microsoft YaHei"/>
              </a:rPr>
              <a:t>滚动测试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752344"/>
            <a:ext cx="1783080" cy="4389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58B"/>
                </a:solidFill>
                <a:latin typeface="Microsoft YaHei"/>
                <a:ea typeface="Microsoft YaHei"/>
              </a:rPr>
              <a:t>保存概率与日期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675887"/>
            <a:ext cx="5358384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785615"/>
            <a:ext cx="495604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87F8C"/>
                </a:solidFill>
                <a:latin typeface="Microsoft YaHei"/>
                <a:ea typeface="Microsoft YaHei"/>
              </a:rPr>
              <a:t>训练设置（当前E与事件候选）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4544568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434840"/>
            <a:ext cx="4745736" cy="5227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扩展历史窗口；lr=5e-4；dropout=0.3。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" y="5090160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980432"/>
            <a:ext cx="4745736" cy="5227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25轮上限；patience=8；AdamW、余弦退火、梯度裁剪。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" y="5635752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5526024"/>
            <a:ext cx="4745736" cy="5227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无类别加权、无标签平滑；固定阈值0.5。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3675887"/>
            <a:ext cx="5358384" cy="2487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3785615"/>
            <a:ext cx="495604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87F8C"/>
                </a:solidFill>
                <a:latin typeface="Microsoft YaHei"/>
                <a:ea typeface="Microsoft YaHei"/>
              </a:rPr>
              <a:t>评估与采用门槛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91656" y="4544568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4536" y="4434840"/>
            <a:ext cx="4745736" cy="5227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开发期：预测及标签成熟日均≤2024-12-31。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91656" y="5090160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4536" y="4980432"/>
            <a:ext cx="4745736" cy="5227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采用：原始方向超多数类、配对增益区间为正、多数seed改善。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1656" y="5635752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536" y="5526024"/>
            <a:ext cx="4745736" cy="5227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2025已多轮查看，仅作诊断；新时期盲测仍需补齐。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历史优化：预测周期比单纯增大模型更重要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旧版缓存特征探索结果；这些数值不与最新因果实验直接拼接为同口径排名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来源：LS2、SEQ60_ACC3、H10_SEQ40、H10_S40_FINAL5指标与预测产物；历史迭代报告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07 / 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7315200" cy="36393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19872" y="1965960"/>
            <a:ext cx="3429000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75688"/>
            <a:ext cx="3026664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87F8C"/>
                </a:solidFill>
                <a:latin typeface="Microsoft YaHei"/>
                <a:ea typeface="Microsoft YaHei"/>
              </a:rPr>
              <a:t>得到的经验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30184" y="2834640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2724912"/>
            <a:ext cx="2816352" cy="906779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Top-30优于堆砌全部特征，控制模型容量。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0184" y="3764280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3064" y="3654552"/>
            <a:ext cx="2816352" cy="906779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H10＋40日序列出现更强排序能力。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0184" y="4693920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4" y="4584192"/>
            <a:ext cx="2816352" cy="906779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374A"/>
                </a:solidFill>
                <a:latin typeface="Microsoft YaHei"/>
                <a:ea typeface="Microsoft YaHei"/>
              </a:rPr>
              <a:t>多seed减方差，但不保证准确率单调提升。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69864"/>
            <a:ext cx="10835640" cy="5029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9474D"/>
                </a:solidFill>
                <a:latin typeface="Microsoft YaHei"/>
                <a:ea typeface="Microsoft YaHei"/>
              </a:rPr>
              <a:t>阈值教训：旧模型W=250滚动校准的2025准确率为48.15%，不是早期误算的78.60%。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9474D"/>
                </a:solidFill>
                <a:latin typeface="Microsoft YaHei"/>
                <a:ea typeface="Microsoft YaHei"/>
              </a:rPr>
              <a:t>历史th=0.39的全局汇总包含开发样本选阈值，不能视为全局完全样本外校准收益。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当前优化结果：标签与趋势有局部改善，泛化仍不足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同一原始方向口径；重定义标签的高原生准确率不能解释为方向预测准确率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08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10972800" cy="5486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02536"/>
            <a:ext cx="340156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00253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开发期原始方向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00253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2025原始方向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008" y="200253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2025原生标签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6888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51176"/>
            <a:ext cx="340156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base_D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55117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53.15%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55117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51.85%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55117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51.85%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017520"/>
            <a:ext cx="10972800" cy="54864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099815"/>
            <a:ext cx="340156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relabel_D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099815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51.76%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099815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58.02%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3099815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70.37%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566160"/>
            <a:ext cx="10972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648456"/>
            <a:ext cx="340156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twostage_D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64845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53.15%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8" y="364845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51.85%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64845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51.85%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114800"/>
            <a:ext cx="10972800" cy="54864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197096"/>
            <a:ext cx="340156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features_E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419709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53.08%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419709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56.38%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419709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56.38%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663440"/>
            <a:ext cx="10972800" cy="548640"/>
          </a:xfrm>
          <a:prstGeom prst="rect">
            <a:avLst/>
          </a:prstGeom>
          <a:solidFill>
            <a:srgbClr val="E6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745736"/>
            <a:ext cx="340156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374A"/>
                </a:solidFill>
                <a:latin typeface="Microsoft YaHei"/>
                <a:ea typeface="Microsoft YaHei"/>
              </a:rPr>
              <a:t>featrelab_E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74573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374A"/>
                </a:solidFill>
                <a:latin typeface="Microsoft YaHei"/>
                <a:ea typeface="Microsoft YaHei"/>
              </a:rPr>
              <a:t>54.21%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9128" y="474573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374A"/>
                </a:solidFill>
                <a:latin typeface="Microsoft YaHei"/>
                <a:ea typeface="Microsoft YaHei"/>
              </a:rPr>
              <a:t>62.96%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8" y="4745736"/>
            <a:ext cx="2304288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374A"/>
                </a:solidFill>
                <a:latin typeface="Microsoft YaHei"/>
                <a:ea typeface="Microsoft YaHei"/>
              </a:rPr>
              <a:t>78.60%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486400"/>
            <a:ext cx="5394960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577840"/>
            <a:ext cx="4983480" cy="29260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9474D"/>
                </a:solidFill>
                <a:latin typeface="Microsoft YaHei"/>
                <a:ea typeface="Microsoft YaHei"/>
              </a:rPr>
              <a:t>E基线是研究对照，不是生产模型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5934456"/>
            <a:ext cx="4983480" cy="23774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374A"/>
                </a:solidFill>
                <a:latin typeface="Microsoft YaHei"/>
                <a:ea typeface="Microsoft YaHei"/>
              </a:rPr>
              <a:t>开发期54.21%仍低于多数类59.05%。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504688"/>
            <a:ext cx="5166360" cy="74980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58B"/>
                </a:solidFill>
                <a:latin typeface="Microsoft YaHei"/>
                <a:ea typeface="Microsoft YaHei"/>
              </a:rPr>
              <a:t>两阶段未通过：幅度识别开发期AUC约0.466，过滤不能稳定增益。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4758B"/>
                </a:solidFill>
                <a:latin typeface="Microsoft YaHei"/>
                <a:ea typeface="Microsoft YaHei"/>
              </a:rPr>
              <a:t>原生标签down_ex2：未来10日下跌超过2bp；原始方向：未来10日变化&lt;0。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训练侧与市场特征优化：单年最优不等于可采用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以E基线为对照；短窗口、近期加权、状态相似度和F特征均未提供稳定开发期收益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09 / 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65376"/>
            <a:ext cx="6986016" cy="421538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920240"/>
            <a:ext cx="3630168" cy="4087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2029968"/>
            <a:ext cx="3227832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87F8C"/>
                </a:solidFill>
                <a:latin typeface="Microsoft YaHei"/>
                <a:ea typeface="Microsoft YaHei"/>
              </a:rPr>
              <a:t>为什么不采用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2788920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679192"/>
            <a:ext cx="3017520" cy="10561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短窗：开发期45.79%–51.69%，丢失长历史信息的可能性需验证。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3867912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758184"/>
            <a:ext cx="3017520" cy="10561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R252：2025达65.84%，但开发期仅50.10%，不能凭单年选择。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9872" y="4946904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837176"/>
            <a:ext cx="3017520" cy="105613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F：机构/资金/供给特征未修复10月；不等于已证明无预测信息。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政策事件消融：排序改善，准确率收益没有稳定复现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72个精选回溯事件；半衰期10个交易日；次交易日起可用；两个候选均未通过采用门槛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来源：02_文本特征构建.py；OPT9_event_*；文本标签_政策事件日历.csv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10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9384"/>
            <a:ext cx="11064240" cy="585216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79"/>
            <a:ext cx="3584447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011679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开发期Acc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2011679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2025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011679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2025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39528" y="2011679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2025年10月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514600"/>
            <a:ext cx="110642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96896"/>
            <a:ext cx="3584447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E基线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596896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54.21%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596896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62.96%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2596896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0.5086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39528" y="2596896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11.76%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099815"/>
            <a:ext cx="11064240" cy="58521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182111"/>
            <a:ext cx="3584447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E＋客观事件（10列）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182111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52.62%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182111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55.14%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3182111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0.5818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3182111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11.76%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685031"/>
            <a:ext cx="1106424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767327"/>
            <a:ext cx="3584447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E＋方向事件（13列）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767327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51.16%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767327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64.20%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3767327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0.6062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767327"/>
            <a:ext cx="1664208" cy="49377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11.76%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626864"/>
            <a:ext cx="539496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736592"/>
            <a:ext cx="4992624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9474D"/>
                </a:solidFill>
                <a:latin typeface="Microsoft YaHei"/>
                <a:ea typeface="Microsoft YaHei"/>
              </a:rPr>
              <a:t>方向标签组：不以2025选型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" y="5266944"/>
            <a:ext cx="50292" cy="50292"/>
          </a:xfrm>
          <a:prstGeom prst="rect">
            <a:avLst/>
          </a:prstGeom>
          <a:solidFill>
            <a:srgbClr val="C9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5157216"/>
            <a:ext cx="4782312" cy="4343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2025净增益1.23pt，95%分块区间−11.11至＋13.59pt。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" y="5724144"/>
            <a:ext cx="50292" cy="50292"/>
          </a:xfrm>
          <a:prstGeom prst="rect">
            <a:avLst/>
          </a:prstGeom>
          <a:solidFill>
            <a:srgbClr val="C9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614416"/>
            <a:ext cx="4782312" cy="4343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开发期下降3.05pt；仅1/3个seed在开发期改善。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626864"/>
            <a:ext cx="5321808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736592"/>
            <a:ext cx="4919472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87F8C"/>
                </a:solidFill>
                <a:latin typeface="Microsoft YaHei"/>
                <a:ea typeface="Microsoft YaHei"/>
              </a:rPr>
              <a:t>避免把关联当机制证明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5266944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1112" y="5157216"/>
            <a:ext cx="4709160" cy="4343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2025事件后20日准确率：基线61.27%，方向组56.34%。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28232" y="5724144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5614416"/>
            <a:ext cx="4709160" cy="4343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10月20日新增事件仅能从10月21日起影响预测。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结果分布：准确率主要来自非下行日，漏判风险集中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当前E基线 · 2025年243日；预测概率p对应“下跌超过2bp”，不是纯方向概率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11 / 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92807"/>
            <a:ext cx="10835640" cy="3246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367528"/>
            <a:ext cx="3447288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5468112"/>
            <a:ext cx="3108960" cy="24688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58B"/>
                </a:solidFill>
                <a:latin typeface="Microsoft YaHei"/>
                <a:ea typeface="Microsoft YaHei"/>
              </a:rPr>
              <a:t>预测下行 / 实际下行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5760720"/>
            <a:ext cx="3108960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C9474D"/>
                </a:solidFill>
                <a:latin typeface="Microsoft YaHei"/>
                <a:ea typeface="Microsoft YaHei"/>
              </a:rPr>
              <a:t>29日 / 97日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513832"/>
            <a:ext cx="6995160" cy="62179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下行召回率：18/97＝18.56%；漏判79日。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6374A"/>
                </a:solidFill>
                <a:latin typeface="Microsoft YaHei"/>
                <a:ea typeface="Microsoft YaHei"/>
              </a:rPr>
              <a:t>总体Acc62.96%，但MacroF1仅0.5179、原始方向AUC0.5086。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哪些时期预测不好：按月看存在成片失误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E基线原始方向准确率；历史最差月份按n≥15筛选，非事前可执行的过滤规则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12 / 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874519"/>
            <a:ext cx="10917936" cy="2633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4663440"/>
            <a:ext cx="5669280" cy="219456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700016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最差月份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2576" y="4700016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样本数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2696" y="4700016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原始方向Acc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4700016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平均模型p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882896"/>
            <a:ext cx="5669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4919472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2024-12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2576" y="4919472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4919472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4919472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102352"/>
            <a:ext cx="566928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138928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2020-06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2576" y="5138928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5138928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5138928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0.882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321807"/>
            <a:ext cx="5669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58383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2023-04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2576" y="5358383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2696" y="5358383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5358383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0.039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41264"/>
            <a:ext cx="566928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577840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2020-01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2576" y="5577840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2696" y="5577840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8616" y="5577840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0.125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760720"/>
            <a:ext cx="566928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797296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2021-07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5797296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82696" y="5797296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4.55%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28616" y="5797296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0.260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980175"/>
            <a:ext cx="5669280" cy="219456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6016751"/>
            <a:ext cx="138988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2023-05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2576" y="6016751"/>
            <a:ext cx="7955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82696" y="6016751"/>
            <a:ext cx="148132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10.00%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8616" y="6016751"/>
            <a:ext cx="1344168" cy="1691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26374A"/>
                </a:solidFill>
                <a:latin typeface="Microsoft YaHei"/>
                <a:ea typeface="Microsoft YaHei"/>
              </a:rPr>
              <a:t>0.052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0256" y="4654296"/>
            <a:ext cx="4919472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4764024"/>
            <a:ext cx="4517136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87F8C"/>
                </a:solidFill>
                <a:latin typeface="Microsoft YaHei"/>
                <a:ea typeface="Microsoft YaHei"/>
              </a:rPr>
              <a:t>诊断而非因果定论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0568" y="5294376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13448" y="5184648"/>
            <a:ext cx="4306824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26374A"/>
                </a:solidFill>
                <a:latin typeface="Microsoft YaHei"/>
                <a:ea typeface="Microsoft YaHei"/>
              </a:rPr>
              <a:t>2020-06、2023-04、2024-12等出现整月失误。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0568" y="5605272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13448" y="5495544"/>
            <a:ext cx="4306824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26374A"/>
                </a:solidFill>
                <a:latin typeface="Microsoft YaHei"/>
                <a:ea typeface="Microsoft YaHei"/>
              </a:rPr>
              <a:t>预测日共享10日标签区间，错误聚集并非独立重复证据。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30568" y="5916168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13448" y="5806440"/>
            <a:ext cx="4306824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26374A"/>
                </a:solidFill>
                <a:latin typeface="Microsoft YaHei"/>
                <a:ea typeface="Microsoft YaHei"/>
              </a:rPr>
              <a:t>体制切换、校准漂移、标签目标错配均需分开验证。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2025年10月复盘：温和下行被系统性漏判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17个预测日中15日错误；模型全部预测非下行；不能由单段失误认定历史无类似样本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13 / 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92807"/>
            <a:ext cx="7132320" cy="3520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19288" y="2020824"/>
            <a:ext cx="3566160" cy="41148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9015" y="210312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预测日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0576" y="210312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模型p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32136" y="2103120"/>
            <a:ext cx="129844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实际变化bp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9288" y="2432304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5" y="251460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10-16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51460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0.239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32136" y="2514600"/>
            <a:ext cx="129844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-2.61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843784"/>
            <a:ext cx="356616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5" y="2926079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10-20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926079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0.251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32136" y="2926079"/>
            <a:ext cx="129844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-5.46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3255264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5" y="333756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10-21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33756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0.257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2136" y="3337560"/>
            <a:ext cx="129844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-4.55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3666744"/>
            <a:ext cx="3566160" cy="41148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5" y="3749039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10-22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749039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0.268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2136" y="3749039"/>
            <a:ext cx="129844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-3.60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078224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5" y="416052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10-24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160520"/>
            <a:ext cx="88696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0.266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32136" y="4160520"/>
            <a:ext cx="1298448" cy="32004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6374A"/>
                </a:solidFill>
                <a:latin typeface="Microsoft YaHei"/>
                <a:ea typeface="Microsoft YaHei"/>
              </a:rPr>
              <a:t>-3.21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663440"/>
            <a:ext cx="3456432" cy="65836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474D"/>
                </a:solidFill>
                <a:latin typeface="Microsoft YaHei"/>
                <a:ea typeface="Microsoft YaHei"/>
              </a:rPr>
              <a:t>10-09至10-29共15个连续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9474D"/>
                </a:solidFill>
                <a:latin typeface="Microsoft YaHei"/>
                <a:ea typeface="Microsoft YaHei"/>
              </a:rPr>
              <a:t>预测日漏判；10-30、10-31正确。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660136"/>
            <a:ext cx="1074420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目标错配只解释部分失误：−0.07至−1.99bp小跌在down_ex2中属于负类；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374A"/>
                </a:solidFill>
                <a:latin typeface="Microsoft YaHei"/>
                <a:ea typeface="Microsoft YaHei"/>
              </a:rPr>
              <a:t>但10-16、10-20等超过2bp的下行仍被漏判。F特征、客观事件和方向事件均未修复。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不确定性与证据边界：不靠单年或单seed拍板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连续20日分块自助区间用于缓解重叠标签相关性；区间包含零，不等于稳定增益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来源：model_nn/out/OPT9_validation.json；预测明细按原始利率重新计算未来10日涨跌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14 / 15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10789920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020056"/>
            <a:ext cx="523951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129784"/>
            <a:ext cx="4837176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87F8C"/>
                </a:solidFill>
                <a:latin typeface="Microsoft YaHei"/>
                <a:ea typeface="Microsoft YaHei"/>
              </a:rPr>
              <a:t>已经确认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660136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50408"/>
            <a:ext cx="4626864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374A"/>
                </a:solidFill>
                <a:latin typeface="Microsoft YaHei"/>
                <a:ea typeface="Microsoft YaHei"/>
              </a:rPr>
              <a:t>18项测试通过；日期、折边界、3-seed与事件指纹一致。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971032"/>
            <a:ext cx="50292" cy="502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861304"/>
            <a:ext cx="4626864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374A"/>
                </a:solidFill>
                <a:latin typeface="Microsoft YaHei"/>
                <a:ea typeface="Microsoft YaHei"/>
              </a:rPr>
              <a:t>原生标签、原始方向、同子集多数类分开报告。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5020056"/>
            <a:ext cx="5367528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5129784"/>
            <a:ext cx="4965192" cy="34747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9474D"/>
                </a:solidFill>
                <a:latin typeface="Microsoft YaHei"/>
                <a:ea typeface="Microsoft YaHei"/>
              </a:rPr>
              <a:t>仍未确认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5660136"/>
            <a:ext cx="50292" cy="50292"/>
          </a:xfrm>
          <a:prstGeom prst="rect">
            <a:avLst/>
          </a:prstGeom>
          <a:solidFill>
            <a:srgbClr val="C9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5550408"/>
            <a:ext cx="4754880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374A"/>
                </a:solidFill>
                <a:latin typeface="Microsoft YaHei"/>
                <a:ea typeface="Microsoft YaHei"/>
              </a:rPr>
              <a:t>2025已被反复观察；后续需要真正未调参的新时期。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3368" y="5971032"/>
            <a:ext cx="50292" cy="50292"/>
          </a:xfrm>
          <a:prstGeom prst="rect">
            <a:avLst/>
          </a:prstGeom>
          <a:solidFill>
            <a:srgbClr val="C94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5861304"/>
            <a:ext cx="4754880" cy="28803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6374A"/>
                </a:solidFill>
                <a:latin typeface="Microsoft YaHei"/>
                <a:ea typeface="Microsoft YaHei"/>
              </a:rPr>
              <a:t>精选回溯事件、旧缓存筛选、宏观修订值均需可得性审计。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914400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国债收益率方向预测  /  研究进展汇报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10243A"/>
                </a:solidFill>
                <a:latin typeface="Microsoft YaHei"/>
                <a:ea typeface="Microsoft YaHei"/>
              </a:rPr>
              <a:t>后续计划：先建立证据，再讨论部署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353312"/>
            <a:ext cx="10972800" cy="45720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58B"/>
                </a:solidFill>
                <a:latin typeface="Microsoft YaHei"/>
                <a:ea typeface="Microsoft YaHei"/>
              </a:rPr>
              <a:t>冻结当前对照基线；事件特征仅保留可选实验，不直接修改01默认模型输入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446520"/>
            <a:ext cx="10698480" cy="219456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64758B"/>
                </a:solidFill>
                <a:latin typeface="Microsoft YaHei"/>
                <a:ea typeface="Microsoft YaHei"/>
              </a:rPr>
              <a:t>复现入口：09_方向优化实验.py；结果：OPT9_对比汇总.csv、OPT9_event_decision.json；本PPT由10_汇报PPT生成.py生成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9944"/>
            <a:ext cx="594360" cy="274320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58B"/>
                </a:solidFill>
                <a:latin typeface="Microsoft YaHei"/>
                <a:ea typeface="Microsoft YaHei"/>
              </a:rPr>
              <a:t>15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938528"/>
            <a:ext cx="10972800" cy="758952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20824"/>
            <a:ext cx="2029967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优先级 / 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020824"/>
            <a:ext cx="459028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具体工作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2020824"/>
            <a:ext cx="385876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交付与通过门槛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2697480"/>
            <a:ext cx="109728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79776"/>
            <a:ext cx="2029967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P0：数据与口径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2779776"/>
            <a:ext cx="459028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发布时点/修订值审计；事件来源与标注版本冻结；同H10重训XGB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1" y="2779776"/>
            <a:ext cx="385876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同日历、同标签、同切分；独立逐日指标对账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456432"/>
            <a:ext cx="10972800" cy="75895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538728"/>
            <a:ext cx="2029967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P1：概率与标签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3538728"/>
            <a:ext cx="459028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Platt/温度校准；方向与幅度分头；成熟OOS标签上开发期验证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3538728"/>
            <a:ext cx="385876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开发期超同子集多数类；配对分块区间为正；多数seed改善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" y="4215383"/>
            <a:ext cx="1097280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297679"/>
            <a:ext cx="2029967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P2：稳健性复核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297679"/>
            <a:ext cx="459028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同周期XGB＋NN融合；低置信弃权；按趋势/波动状态分层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4297679"/>
            <a:ext cx="385876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准确率与覆盖率同时报告；冻结方案后新时期盲测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4974336"/>
            <a:ext cx="10972800" cy="75895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056631"/>
            <a:ext cx="2029967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P3：影子运行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5056631"/>
            <a:ext cx="459028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固定信号时点；10日持有期；成本、换手、回撤与概率漂移监控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5056631"/>
            <a:ext cx="3858768" cy="667512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6374A"/>
                </a:solidFill>
                <a:latin typeface="Microsoft YaHei"/>
                <a:ea typeface="Microsoft YaHei"/>
              </a:rPr>
              <a:t>成本后收益与风险合格；不以准确率替代交易可行性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916168"/>
            <a:ext cx="10881360" cy="393192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980176"/>
            <a:ext cx="10515600" cy="283464"/>
          </a:xfrm>
          <a:prstGeom prst="rect">
            <a:avLst/>
          </a:prstGeom>
          <a:noFill/>
        </p:spPr>
        <p:txBody>
          <a:bodyPr wrap="square" lIns="18288" rIns="18288" tIns="13716" bIns="1371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决策建议：保持研究对照，不提前部署；优先验证校准与同周期公平对照。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